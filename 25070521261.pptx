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</ns0:sldIdLst>
  <ns0:sldSz cx="12192000" cy="6858000" type="screen4x3"/>
  <ns0:notesSz cx="6858000" cy="9144000"/>
  <ns0:embeddedFontLst>
    <ns0:embeddedFont>
      <ns0:font typeface="Inter"/>
      <ns0:bold ns1:id="rIdFont21"/>
      <ns0:italic ns1:id="rIdFont22"/>
      <ns0:regular ns1:id="rIdFont23"/>
    </ns0:embeddedFont>
    <ns0:embeddedFont>
      <ns0:font typeface="JetBrains Mono"/>
      <ns0:bold ns1:id="rIdFont24"/>
      <ns0:regular ns1:id="rIdFont25"/>
    </ns0:embeddedFont>
    <ns0:embeddedFont>
      <ns0:font typeface="Space Grotesk"/>
      <ns0:bold ns1:id="rIdFont2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Font21" Type="http://schemas.openxmlformats.org/officeDocument/2006/relationships/font" Target="fonts/7cbad7e3-d501-48e1-8b6f-7ed916223d00.fntdata" /><ns0:Relationship Id="rIdFont22" Type="http://schemas.openxmlformats.org/officeDocument/2006/relationships/font" Target="fonts/709af033-9ae4-491c-91f1-a02030b60f19.fntdata" /><ns0:Relationship Id="rIdFont23" Type="http://schemas.openxmlformats.org/officeDocument/2006/relationships/font" Target="fonts/11628492-e3e4-4232-8523-8948fa3cbdc8.fntdata" /><ns0:Relationship Id="rIdFont24" Type="http://schemas.openxmlformats.org/officeDocument/2006/relationships/font" Target="fonts/3a69ce04-0782-4b0f-864c-07c1559d3f2a.fntdata" /><ns0:Relationship Id="rIdFont25" Type="http://schemas.openxmlformats.org/officeDocument/2006/relationships/font" Target="fonts/14e2b7e4-418a-49b9-8bab-0ac7c99bb735.fntdata" /><ns0:Relationship Id="rIdFont26" Type="http://schemas.openxmlformats.org/officeDocument/2006/relationships/font" Target="fonts/52a40abd-7195-4050-a91a-fa535bbb813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283273"/>
            <a:ext cx="685800" cy="323850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752600" y="4283273"/>
            <a:ext cx="990600" cy="323850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0" y="4283273"/>
            <a:ext cx="1905000" cy="323850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2250727"/>
            <a:ext cx="46791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Space Grotesk"/>
              </a:rPr>
              <a:t>DESIGN &amp; ANALYSIS OF ALGORITHMS (DAA)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03152"/>
            <a:ext cx="10788848" cy="613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8FAFC"/>
                </a:solidFill>
                <a:latin typeface="Space Grotesk"/>
              </a:rPr>
              <a:t>Matrix Multiplication Paradigms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406973"/>
            <a:ext cx="6953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From $O(n^3)$ Naive Loops to Strassen's Divide &amp; Conquer and Dynamic Programming for Optimal Chains.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359473"/>
            <a:ext cx="476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JetBrains Mono"/>
              </a:rPr>
              <a:t>O(n³)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7800" y="4349948"/>
            <a:ext cx="4381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4359473"/>
            <a:ext cx="7810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4D399"/>
                </a:solidFill>
                <a:latin typeface="JetBrains Mono"/>
              </a:rPr>
              <a:t>O(n^2.81)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5600" y="4349948"/>
            <a:ext cx="4381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2800" y="4359473"/>
            <a:ext cx="1695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43F5E"/>
                </a:solidFill>
                <a:latin typeface="JetBrains Mono"/>
              </a:rPr>
              <a:t>DP Chain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54684"/>
            <a:ext cx="5295900" cy="1920180"/>
          </a:xfrm>
          <a:prstGeom prst="roundRect">
            <a:avLst>
              <a:gd name="adj" fmla="val 396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2981325"/>
            <a:ext cx="5295900" cy="1866900"/>
          </a:xfrm>
          <a:prstGeom prst="roundRect">
            <a:avLst>
              <a:gd name="adj" fmla="val 40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954684"/>
            <a:ext cx="38100" cy="192018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86500" y="2981325"/>
            <a:ext cx="38100" cy="18669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29400" y="3705225"/>
            <a:ext cx="46482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01. FUNDAMENTALS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The Matrix Multiplication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259484"/>
            <a:ext cx="610076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Dimension Compatibility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678584"/>
            <a:ext cx="47434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To multiply matrix </a:t>
            </a:r>
            <a:r>
              <a:rPr b="1" sz="1350" i="0" u="none">
                <a:solidFill>
                  <a:srgbClr val="334155"/>
                </a:solidFill>
                <a:latin typeface="Inter"/>
              </a:rPr>
              <a:t>A (p × q)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by matrix </a:t>
            </a:r>
            <a:r>
              <a:rPr b="1" sz="1350" i="0" u="none">
                <a:solidFill>
                  <a:srgbClr val="334155"/>
                </a:solidFill>
                <a:latin typeface="Inter"/>
              </a:rPr>
              <a:t>B (q × r)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, the inner dimensions must match.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379565"/>
            <a:ext cx="5810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Resulting Matrix </a:t>
            </a:r>
            <a:r>
              <a:rPr b="1" sz="1200" i="0" u="none">
                <a:solidFill>
                  <a:srgbClr val="64748B"/>
                </a:solidFill>
                <a:latin typeface="Inter"/>
              </a:rPr>
              <a:t>C</a:t>
            </a:r>
            <a:r>
              <a:rPr b="0" sz="1200" i="0" u="none">
                <a:solidFill>
                  <a:srgbClr val="64748B"/>
                </a:solidFill>
                <a:latin typeface="Inter"/>
              </a:rPr>
              <a:t> has dimensions: </a:t>
            </a:r>
            <a:r>
              <a:rPr b="1" sz="1200" i="0" u="none">
                <a:solidFill>
                  <a:srgbClr val="64748B"/>
                </a:solidFill>
                <a:latin typeface="Inter"/>
              </a:rPr>
              <a:t>(p × 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286125"/>
            <a:ext cx="55626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Element Computation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3700" y="3819525"/>
            <a:ext cx="45148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JetBrains Mono"/>
              </a:rPr>
              <a:t>C[i][j] = Σ (A[i][k] * B[k][j])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352925"/>
            <a:ext cx="55626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Sum calculated for </a:t>
            </a:r>
            <a:r>
              <a:rPr b="1" sz="1200" i="0" u="none">
                <a:solidFill>
                  <a:srgbClr val="64748B"/>
                </a:solidFill>
                <a:latin typeface="Inter"/>
              </a:rPr>
              <a:t>k = 1 to q</a:t>
            </a:r>
            <a:r>
              <a:rPr b="0" sz="1200" i="0" u="none">
                <a:solidFill>
                  <a:srgbClr val="64748B"/>
                </a:solidFill>
                <a:latin typeface="Inter"/>
              </a:rPr>
              <a:t> for each row </a:t>
            </a:r>
            <a:r>
              <a:rPr b="0" sz="1200" i="1" u="none">
                <a:solidFill>
                  <a:srgbClr val="64748B"/>
                </a:solidFill>
                <a:latin typeface="Inter"/>
              </a:rPr>
              <a:t>i</a:t>
            </a:r>
            <a:r>
              <a:rPr b="0" sz="1200" i="0" u="none">
                <a:solidFill>
                  <a:srgbClr val="64748B"/>
                </a:solidFill>
                <a:latin typeface="Inter"/>
              </a:rPr>
              <a:t> and column </a:t>
            </a:r>
            <a:r>
              <a:rPr b="0" sz="1200" i="1" u="none">
                <a:solidFill>
                  <a:srgbClr val="64748B"/>
                </a:solidFill>
                <a:latin typeface="Inter"/>
              </a:rPr>
              <a:t>j</a:t>
            </a:r>
            <a:r>
              <a:rPr b="0" sz="1200" i="0" u="none">
                <a:solidFill>
                  <a:srgbClr val="64748B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90825"/>
            <a:ext cx="6583709" cy="2171700"/>
          </a:xfrm>
          <a:prstGeom prst="roundRect">
            <a:avLst>
              <a:gd name="adj" fmla="val 526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98109" y="2476500"/>
            <a:ext cx="4084290" cy="1304925"/>
          </a:xfrm>
          <a:prstGeom prst="roundRect">
            <a:avLst>
              <a:gd name="adj" fmla="val 875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109" y="3971925"/>
            <a:ext cx="4084290" cy="1304925"/>
          </a:xfrm>
          <a:prstGeom prst="roundRect">
            <a:avLst>
              <a:gd name="adj" fmla="val 875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02. ITERATIVE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Standard Triple-Loop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019425"/>
            <a:ext cx="6221759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43F5E"/>
                </a:solidFill>
                <a:latin typeface="JetBrains Mono"/>
              </a:rPr>
              <a:t>void</a:t>
            </a:r>
            <a:r>
              <a:rPr b="0" sz="1125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b="0" sz="1125" i="0" u="none">
                <a:solidFill>
                  <a:srgbClr val="38BDF8"/>
                </a:solidFill>
                <a:latin typeface="JetBrains Mono"/>
              </a:rPr>
              <a:t>multiply</a:t>
            </a:r>
            <a:r>
              <a:rPr b="0" sz="1125" i="0" u="none">
                <a:solidFill>
                  <a:srgbClr val="E2E8F0"/>
                </a:solidFill>
                <a:latin typeface="JetBrains Mono"/>
              </a:rPr>
              <a:t>(</a:t>
            </a:r>
            <a:r>
              <a:rPr b="0" sz="1125" i="0" u="none">
                <a:solidFill>
                  <a:srgbClr val="F43F5E"/>
                </a:solidFill>
                <a:latin typeface="JetBrains Mono"/>
              </a:rPr>
              <a:t>int</a:t>
            </a:r>
            <a:r>
              <a:rPr b="0" sz="1125" i="0" u="none">
                <a:solidFill>
                  <a:srgbClr val="E2E8F0"/>
                </a:solidFill>
                <a:latin typeface="JetBrains Mono"/>
              </a:rPr>
              <a:t> A[][], </a:t>
            </a:r>
            <a:r>
              <a:rPr b="0" sz="1125" i="0" u="none">
                <a:solidFill>
                  <a:srgbClr val="F43F5E"/>
                </a:solidFill>
                <a:latin typeface="JetBrains Mono"/>
              </a:rPr>
              <a:t>int</a:t>
            </a:r>
            <a:r>
              <a:rPr b="0" sz="1125" i="0" u="none">
                <a:solidFill>
                  <a:srgbClr val="E2E8F0"/>
                </a:solidFill>
                <a:latin typeface="JetBrains Mono"/>
              </a:rPr>
              <a:t> B[][], </a:t>
            </a:r>
            <a:r>
              <a:rPr b="0" sz="1125" i="0" u="none">
                <a:solidFill>
                  <a:srgbClr val="F43F5E"/>
                </a:solidFill>
                <a:latin typeface="JetBrains Mono"/>
              </a:rPr>
              <a:t>int</a:t>
            </a:r>
            <a:r>
              <a:rPr b="0" sz="1125" i="0" u="none">
                <a:solidFill>
                  <a:srgbClr val="E2E8F0"/>
                </a:solidFill>
                <a:latin typeface="JetBrains Mono"/>
              </a:rPr>
              <a:t> C[][], </a:t>
            </a:r>
            <a:r>
              <a:rPr b="0" sz="1125" i="0" u="none">
                <a:solidFill>
                  <a:srgbClr val="F43F5E"/>
                </a:solidFill>
                <a:latin typeface="JetBrains Mono"/>
              </a:rPr>
              <a:t>int</a:t>
            </a:r>
            <a:r>
              <a:rPr b="0" sz="1125" i="0" u="none">
                <a:solidFill>
                  <a:srgbClr val="E2E8F0"/>
                </a:solidFill>
                <a:latin typeface="JetBrains Mono"/>
              </a:rPr>
              <a:t> N) { </a:t>
            </a:r>
            <a:r>
              <a:rPr b="0" sz="1125" i="0" u="none">
                <a:solidFill>
                  <a:srgbClr val="F43F5E"/>
                </a:solidFill>
                <a:latin typeface="JetBrains Mono"/>
              </a:rPr>
              <a:t>for</a:t>
            </a:r>
            <a:r>
              <a:rPr b="0" sz="1125" i="0" u="none">
                <a:solidFill>
                  <a:srgbClr val="E2E8F0"/>
                </a:solidFill>
                <a:latin typeface="JetBrains Mono"/>
              </a:rPr>
              <a:t> (</a:t>
            </a:r>
            <a:r>
              <a:rPr b="0" sz="1125" i="0" u="none">
                <a:solidFill>
                  <a:srgbClr val="F43F5E"/>
                </a:solidFill>
                <a:latin typeface="JetBrains Mono"/>
              </a:rPr>
              <a:t>int</a:t>
            </a:r>
            <a:r>
              <a:rPr b="0" sz="1125" i="0" u="none">
                <a:solidFill>
                  <a:srgbClr val="E2E8F0"/>
                </a:solidFill>
                <a:latin typeface="JetBrains Mono"/>
              </a:rPr>
              <a:t> i = </a:t>
            </a:r>
            <a:r>
              <a:rPr b="0" sz="1125" i="0" u="none">
                <a:solidFill>
                  <a:srgbClr val="F59E0B"/>
                </a:solidFill>
                <a:latin typeface="JetBrains Mono"/>
              </a:rPr>
              <a:t>0</a:t>
            </a:r>
            <a:r>
              <a:rPr b="0" sz="1125" i="0" u="none">
                <a:solidFill>
                  <a:srgbClr val="E2E8F0"/>
                </a:solidFill>
                <a:latin typeface="JetBrains Mono"/>
              </a:rPr>
              <a:t>; i &lt; N; i++) { </a:t>
            </a:r>
            <a:r>
              <a:rPr b="0" sz="1125" i="0" u="none">
                <a:solidFill>
                  <a:srgbClr val="F43F5E"/>
                </a:solidFill>
                <a:latin typeface="JetBrains Mono"/>
              </a:rPr>
              <a:t>for</a:t>
            </a:r>
            <a:r>
              <a:rPr b="0" sz="1125" i="0" u="none">
                <a:solidFill>
                  <a:srgbClr val="E2E8F0"/>
                </a:solidFill>
                <a:latin typeface="JetBrains Mono"/>
              </a:rPr>
              <a:t> (</a:t>
            </a:r>
            <a:r>
              <a:rPr b="0" sz="1125" i="0" u="none">
                <a:solidFill>
                  <a:srgbClr val="F43F5E"/>
                </a:solidFill>
                <a:latin typeface="JetBrains Mono"/>
              </a:rPr>
              <a:t>int</a:t>
            </a:r>
            <a:r>
              <a:rPr b="0" sz="1125" i="0" u="none">
                <a:solidFill>
                  <a:srgbClr val="E2E8F0"/>
                </a:solidFill>
                <a:latin typeface="JetBrains Mono"/>
              </a:rPr>
              <a:t> j = </a:t>
            </a:r>
            <a:r>
              <a:rPr b="0" sz="1125" i="0" u="none">
                <a:solidFill>
                  <a:srgbClr val="F59E0B"/>
                </a:solidFill>
                <a:latin typeface="JetBrains Mono"/>
              </a:rPr>
              <a:t>0</a:t>
            </a:r>
            <a:r>
              <a:rPr b="0" sz="1125" i="0" u="none">
                <a:solidFill>
                  <a:srgbClr val="E2E8F0"/>
                </a:solidFill>
                <a:latin typeface="JetBrains Mono"/>
              </a:rPr>
              <a:t>; j &lt; N; j++) { C[i][j] = </a:t>
            </a:r>
            <a:r>
              <a:rPr b="0" sz="1125" i="0" u="none">
                <a:solidFill>
                  <a:srgbClr val="F59E0B"/>
                </a:solidFill>
                <a:latin typeface="JetBrains Mono"/>
              </a:rPr>
              <a:t>0</a:t>
            </a:r>
            <a:r>
              <a:rPr b="0" sz="1125" i="0" u="none">
                <a:solidFill>
                  <a:srgbClr val="E2E8F0"/>
                </a:solidFill>
                <a:latin typeface="JetBrains Mono"/>
              </a:rPr>
              <a:t>; </a:t>
            </a:r>
            <a:r>
              <a:rPr b="0" sz="1125" i="0" u="none">
                <a:solidFill>
                  <a:srgbClr val="F43F5E"/>
                </a:solidFill>
                <a:latin typeface="JetBrains Mono"/>
              </a:rPr>
              <a:t>for</a:t>
            </a:r>
            <a:r>
              <a:rPr b="0" sz="1125" i="0" u="none">
                <a:solidFill>
                  <a:srgbClr val="E2E8F0"/>
                </a:solidFill>
                <a:latin typeface="JetBrains Mono"/>
              </a:rPr>
              <a:t> (</a:t>
            </a:r>
            <a:r>
              <a:rPr b="0" sz="1125" i="0" u="none">
                <a:solidFill>
                  <a:srgbClr val="F43F5E"/>
                </a:solidFill>
                <a:latin typeface="JetBrains Mono"/>
              </a:rPr>
              <a:t>int</a:t>
            </a:r>
            <a:r>
              <a:rPr b="0" sz="1125" i="0" u="none">
                <a:solidFill>
                  <a:srgbClr val="E2E8F0"/>
                </a:solidFill>
                <a:latin typeface="JetBrains Mono"/>
              </a:rPr>
              <a:t> k = </a:t>
            </a:r>
            <a:r>
              <a:rPr b="0" sz="1125" i="0" u="none">
                <a:solidFill>
                  <a:srgbClr val="F59E0B"/>
                </a:solidFill>
                <a:latin typeface="JetBrains Mono"/>
              </a:rPr>
              <a:t>0</a:t>
            </a:r>
            <a:r>
              <a:rPr b="0" sz="1125" i="0" u="none">
                <a:solidFill>
                  <a:srgbClr val="E2E8F0"/>
                </a:solidFill>
                <a:latin typeface="JetBrains Mono"/>
              </a:rPr>
              <a:t>; k &lt; N; k++) { C[i][j] += A[i][k] * B[k][j]; } } }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019425"/>
            <a:ext cx="6221759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43F5E"/>
                </a:solidFill>
                <a:latin typeface="monospace"/>
              </a:rPr>
              <a:t>void</a:t>
            </a:r>
            <a:r>
              <a:rPr b="0" sz="1125" i="0" u="none">
                <a:solidFill>
                  <a:srgbClr val="E2E8F0"/>
                </a:solidFill>
                <a:latin typeface="monospace"/>
              </a:rPr>
              <a:t> </a:t>
            </a:r>
            <a:r>
              <a:rPr b="0" sz="1125" i="0" u="none">
                <a:solidFill>
                  <a:srgbClr val="38BDF8"/>
                </a:solidFill>
                <a:latin typeface="monospace"/>
              </a:rPr>
              <a:t>multiply</a:t>
            </a:r>
            <a:r>
              <a:rPr b="0" sz="1125" i="0" u="none">
                <a:solidFill>
                  <a:srgbClr val="E2E8F0"/>
                </a:solidFill>
                <a:latin typeface="monospace"/>
              </a:rPr>
              <a:t>(</a:t>
            </a:r>
            <a:r>
              <a:rPr b="0" sz="1125" i="0" u="none">
                <a:solidFill>
                  <a:srgbClr val="F43F5E"/>
                </a:solidFill>
                <a:latin typeface="monospace"/>
              </a:rPr>
              <a:t>int</a:t>
            </a:r>
            <a:r>
              <a:rPr b="0" sz="1125" i="0" u="none">
                <a:solidFill>
                  <a:srgbClr val="E2E8F0"/>
                </a:solidFill>
                <a:latin typeface="monospace"/>
              </a:rPr>
              <a:t> A[][], </a:t>
            </a:r>
            <a:r>
              <a:rPr b="0" sz="1125" i="0" u="none">
                <a:solidFill>
                  <a:srgbClr val="F43F5E"/>
                </a:solidFill>
                <a:latin typeface="monospace"/>
              </a:rPr>
              <a:t>int</a:t>
            </a:r>
            <a:r>
              <a:rPr b="0" sz="1125" i="0" u="none">
                <a:solidFill>
                  <a:srgbClr val="E2E8F0"/>
                </a:solidFill>
                <a:latin typeface="monospace"/>
              </a:rPr>
              <a:t> B[][], </a:t>
            </a:r>
            <a:r>
              <a:rPr b="0" sz="1125" i="0" u="none">
                <a:solidFill>
                  <a:srgbClr val="F43F5E"/>
                </a:solidFill>
                <a:latin typeface="monospace"/>
              </a:rPr>
              <a:t>int</a:t>
            </a:r>
            <a:r>
              <a:rPr b="0" sz="1125" i="0" u="none">
                <a:solidFill>
                  <a:srgbClr val="E2E8F0"/>
                </a:solidFill>
                <a:latin typeface="monospace"/>
              </a:rPr>
              <a:t> C[][], </a:t>
            </a:r>
            <a:r>
              <a:rPr b="0" sz="1125" i="0" u="none">
                <a:solidFill>
                  <a:srgbClr val="F43F5E"/>
                </a:solidFill>
                <a:latin typeface="monospace"/>
              </a:rPr>
              <a:t>int</a:t>
            </a:r>
            <a:r>
              <a:rPr b="0" sz="1125" i="0" u="none">
                <a:solidFill>
                  <a:srgbClr val="E2E8F0"/>
                </a:solidFill>
                <a:latin typeface="monospace"/>
              </a:rPr>
              <a:t> N) { </a:t>
            </a:r>
            <a:r>
              <a:rPr b="0" sz="1125" i="0" u="none">
                <a:solidFill>
                  <a:srgbClr val="F43F5E"/>
                </a:solidFill>
                <a:latin typeface="monospace"/>
              </a:rPr>
              <a:t>for</a:t>
            </a:r>
            <a:r>
              <a:rPr b="0" sz="1125" i="0" u="none">
                <a:solidFill>
                  <a:srgbClr val="E2E8F0"/>
                </a:solidFill>
                <a:latin typeface="monospace"/>
              </a:rPr>
              <a:t> (</a:t>
            </a:r>
            <a:r>
              <a:rPr b="0" sz="1125" i="0" u="none">
                <a:solidFill>
                  <a:srgbClr val="F43F5E"/>
                </a:solidFill>
                <a:latin typeface="monospace"/>
              </a:rPr>
              <a:t>int</a:t>
            </a:r>
            <a:r>
              <a:rPr b="0" sz="1125" i="0" u="none">
                <a:solidFill>
                  <a:srgbClr val="E2E8F0"/>
                </a:solidFill>
                <a:latin typeface="monospace"/>
              </a:rPr>
              <a:t> i = </a:t>
            </a:r>
            <a:r>
              <a:rPr b="0" sz="1125" i="0" u="none">
                <a:solidFill>
                  <a:srgbClr val="F59E0B"/>
                </a:solidFill>
                <a:latin typeface="monospace"/>
              </a:rPr>
              <a:t>0</a:t>
            </a:r>
            <a:r>
              <a:rPr b="0" sz="1125" i="0" u="none">
                <a:solidFill>
                  <a:srgbClr val="E2E8F0"/>
                </a:solidFill>
                <a:latin typeface="monospace"/>
              </a:rPr>
              <a:t>; i &lt; N; i++) { </a:t>
            </a:r>
            <a:r>
              <a:rPr b="0" sz="1125" i="0" u="none">
                <a:solidFill>
                  <a:srgbClr val="F43F5E"/>
                </a:solidFill>
                <a:latin typeface="monospace"/>
              </a:rPr>
              <a:t>for</a:t>
            </a:r>
            <a:r>
              <a:rPr b="0" sz="1125" i="0" u="none">
                <a:solidFill>
                  <a:srgbClr val="E2E8F0"/>
                </a:solidFill>
                <a:latin typeface="monospace"/>
              </a:rPr>
              <a:t> (</a:t>
            </a:r>
            <a:r>
              <a:rPr b="0" sz="1125" i="0" u="none">
                <a:solidFill>
                  <a:srgbClr val="F43F5E"/>
                </a:solidFill>
                <a:latin typeface="monospace"/>
              </a:rPr>
              <a:t>int</a:t>
            </a:r>
            <a:r>
              <a:rPr b="0" sz="1125" i="0" u="none">
                <a:solidFill>
                  <a:srgbClr val="E2E8F0"/>
                </a:solidFill>
                <a:latin typeface="monospace"/>
              </a:rPr>
              <a:t> j = </a:t>
            </a:r>
            <a:r>
              <a:rPr b="0" sz="1125" i="0" u="none">
                <a:solidFill>
                  <a:srgbClr val="F59E0B"/>
                </a:solidFill>
                <a:latin typeface="monospace"/>
              </a:rPr>
              <a:t>0</a:t>
            </a:r>
            <a:r>
              <a:rPr b="0" sz="1125" i="0" u="none">
                <a:solidFill>
                  <a:srgbClr val="E2E8F0"/>
                </a:solidFill>
                <a:latin typeface="monospace"/>
              </a:rPr>
              <a:t>; j &lt; N; j++) { C[i][j] = </a:t>
            </a:r>
            <a:r>
              <a:rPr b="0" sz="1125" i="0" u="none">
                <a:solidFill>
                  <a:srgbClr val="F59E0B"/>
                </a:solidFill>
                <a:latin typeface="monospace"/>
              </a:rPr>
              <a:t>0</a:t>
            </a:r>
            <a:r>
              <a:rPr b="0" sz="1125" i="0" u="none">
                <a:solidFill>
                  <a:srgbClr val="E2E8F0"/>
                </a:solidFill>
                <a:latin typeface="monospace"/>
              </a:rPr>
              <a:t>; </a:t>
            </a:r>
            <a:r>
              <a:rPr b="0" sz="1125" i="0" u="none">
                <a:solidFill>
                  <a:srgbClr val="F43F5E"/>
                </a:solidFill>
                <a:latin typeface="monospace"/>
              </a:rPr>
              <a:t>for</a:t>
            </a:r>
            <a:r>
              <a:rPr b="0" sz="1125" i="0" u="none">
                <a:solidFill>
                  <a:srgbClr val="E2E8F0"/>
                </a:solidFill>
                <a:latin typeface="monospace"/>
              </a:rPr>
              <a:t> (</a:t>
            </a:r>
            <a:r>
              <a:rPr b="0" sz="1125" i="0" u="none">
                <a:solidFill>
                  <a:srgbClr val="F43F5E"/>
                </a:solidFill>
                <a:latin typeface="monospace"/>
              </a:rPr>
              <a:t>int</a:t>
            </a:r>
            <a:r>
              <a:rPr b="0" sz="1125" i="0" u="none">
                <a:solidFill>
                  <a:srgbClr val="E2E8F0"/>
                </a:solidFill>
                <a:latin typeface="monospace"/>
              </a:rPr>
              <a:t> k = </a:t>
            </a:r>
            <a:r>
              <a:rPr b="0" sz="1125" i="0" u="none">
                <a:solidFill>
                  <a:srgbClr val="F59E0B"/>
                </a:solidFill>
                <a:latin typeface="monospace"/>
              </a:rPr>
              <a:t>0</a:t>
            </a:r>
            <a:r>
              <a:rPr b="0" sz="1125" i="0" u="none">
                <a:solidFill>
                  <a:srgbClr val="E2E8F0"/>
                </a:solidFill>
                <a:latin typeface="monospace"/>
              </a:rPr>
              <a:t>; k &lt; N; k++) { C[i][j] += A[i][k] * B[k][j]; } } }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709" y="2705100"/>
            <a:ext cx="446529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Multiplications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709" y="3000375"/>
            <a:ext cx="4465290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284C7"/>
                </a:solidFill>
                <a:latin typeface="JetBrains Mono"/>
              </a:rPr>
              <a:t>N³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709" y="3390900"/>
            <a:ext cx="446529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Exact scalar multiplications performed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709" y="4200525"/>
            <a:ext cx="446529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Time Complexity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709" y="4495800"/>
            <a:ext cx="4465290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DC2626"/>
                </a:solidFill>
                <a:latin typeface="JetBrains Mono"/>
              </a:rPr>
              <a:t>O(N³)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709" y="4886325"/>
            <a:ext cx="446529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Driven by 3 nested loops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43212"/>
            <a:ext cx="5334000" cy="2066925"/>
          </a:xfrm>
          <a:prstGeom prst="roundRect">
            <a:avLst>
              <a:gd name="adj" fmla="val 55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00350"/>
            <a:ext cx="5334000" cy="2152650"/>
          </a:xfrm>
          <a:prstGeom prst="roundRect">
            <a:avLst>
              <a:gd name="adj" fmla="val 53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81087" y="3557587"/>
            <a:ext cx="4391025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03. RECURSIVE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Standard Divide &amp; Conquer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707" y="3119437"/>
            <a:ext cx="627578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Partitioning N×N into 4 Sub-matrices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609" y="3709987"/>
            <a:ext cx="5183981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334155"/>
                </a:solidFill>
                <a:latin typeface="JetBrains Mono"/>
              </a:rPr>
              <a:t>[ C11 C12 ] = [ A11 A12 ] × [ B11 B12 ]</a:t>
            </a:r>
            <a:r>
              <a:t>
</a:t>
            </a:r>
            <a:r>
              <a:rPr b="0" sz="1350" i="0" u="none">
                <a:solidFill>
                  <a:srgbClr val="334155"/>
                </a:solidFill>
                <a:latin typeface="JetBrains Mono"/>
              </a:rPr>
              <a:t> [ C21 C22 ] [ A21 A22 ] [ B21 B22 ]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131" y="4452937"/>
            <a:ext cx="5976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"/>
              </a:rPr>
              <a:t>Each sub-matrix is of size </a:t>
            </a:r>
            <a:r>
              <a:rPr b="1" sz="1125" i="0" u="none">
                <a:solidFill>
                  <a:srgbClr val="64748B"/>
                </a:solidFill>
                <a:latin typeface="Inter"/>
              </a:rPr>
              <a:t>(N/2 × N/2)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076575"/>
            <a:ext cx="56673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Sub-problem Recurrence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3476625"/>
            <a:ext cx="56673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JetBrains Mono"/>
              </a:rPr>
              <a:t>T(N) = 8 T(N/2) + O(N²)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925" y="3905250"/>
            <a:ext cx="762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5125" y="3905250"/>
            <a:ext cx="5476875" cy="2571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8 Recursive Calls: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Sub-matrix multiplications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925" y="4162425"/>
            <a:ext cx="762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5125" y="4162425"/>
            <a:ext cx="5476875" cy="2571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O(N²):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Matrix addition overhead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925" y="4419600"/>
            <a:ext cx="762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5125" y="4419600"/>
            <a:ext cx="5476875" cy="2571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Master Theorem Solution: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T(N) = O(N³)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48400" y="1933575"/>
            <a:ext cx="5334000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33700"/>
            <a:ext cx="5334000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3933825"/>
            <a:ext cx="5334000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4933950"/>
            <a:ext cx="5334000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48400" y="1933575"/>
            <a:ext cx="38100" cy="8477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48400" y="2933700"/>
            <a:ext cx="38100" cy="8477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8400" y="3933825"/>
            <a:ext cx="38100" cy="8477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8400" y="4933950"/>
            <a:ext cx="38100" cy="8477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43125"/>
            <a:ext cx="5334000" cy="3429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03. RECURSIVE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Visualizing Sub-matrix Combinations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2124075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C11 Computation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2400300"/>
            <a:ext cx="571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JetBrains Mono"/>
              </a:rPr>
              <a:t>C11 = A11·B11 + A12·B21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3124200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C12 Computation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3400425"/>
            <a:ext cx="571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JetBrains Mono"/>
              </a:rPr>
              <a:t>C12 = A11·B12 + A12·B22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4124325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C21 Computation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0" y="4400550"/>
            <a:ext cx="571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JetBrains Mono"/>
              </a:rPr>
              <a:t>C21 = A21·B11 + A22·B21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0" y="5124450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C22 Computation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0" y="5400675"/>
            <a:ext cx="571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JetBrains Mono"/>
              </a:rPr>
              <a:t>C22 = A21·B12 + A22·B22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24175"/>
            <a:ext cx="35052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24175"/>
            <a:ext cx="35052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19412"/>
            <a:ext cx="3505200" cy="1914525"/>
          </a:xfrm>
          <a:prstGeom prst="roundRect">
            <a:avLst>
              <a:gd name="adj" fmla="val 597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0" y="3190875"/>
            <a:ext cx="533400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3190875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3100" y="3186112"/>
            <a:ext cx="53340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6475" y="3343275"/>
            <a:ext cx="17145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1700" y="3343275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0" y="3338512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04. STRASSEN'S BREAKTHROUGH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Volker Strassen's Insight (1969)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956" y="3876675"/>
            <a:ext cx="39004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Key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825" y="4200525"/>
            <a:ext cx="3714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Inter"/>
              </a:rPr>
              <a:t>Trade expensive multiplications for cheaper matrix additions.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5756" y="3876675"/>
            <a:ext cx="39004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Reduction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8625" y="4200525"/>
            <a:ext cx="3714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Inter"/>
              </a:rPr>
              <a:t>Reduces recursive calls from </a:t>
            </a:r>
            <a:r>
              <a:rPr b="1" sz="1125" i="0" u="none">
                <a:solidFill>
                  <a:srgbClr val="475569"/>
                </a:solidFill>
                <a:latin typeface="Inter"/>
              </a:rPr>
              <a:t>8 to 7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per step.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9556" y="3871912"/>
            <a:ext cx="39004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New Bound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2425" y="4195762"/>
            <a:ext cx="37147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475569"/>
                </a:solidFill>
                <a:latin typeface="Inter"/>
              </a:rPr>
              <a:t>Achieves </a:t>
            </a:r>
            <a:r>
              <a:rPr b="1" sz="1125" i="0" u="none">
                <a:solidFill>
                  <a:srgbClr val="475569"/>
                </a:solidFill>
                <a:latin typeface="Inter"/>
              </a:rPr>
              <a:t>O(N^log₂7) ≈ O(N^2.81)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complexity.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38425"/>
            <a:ext cx="5410200" cy="49530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72200" y="2638425"/>
            <a:ext cx="5410200" cy="49530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286125"/>
            <a:ext cx="5410200" cy="49530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3286125"/>
            <a:ext cx="5410200" cy="49530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933825"/>
            <a:ext cx="5410200" cy="49530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3933825"/>
            <a:ext cx="5410200" cy="49530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4581525"/>
            <a:ext cx="10972800" cy="49530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04. STRASSEN'S BREAKTHROUGH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The 7 Intermediate Products (P1 to P7)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2790825"/>
            <a:ext cx="5124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JetBrains Mono"/>
              </a:rPr>
              <a:t>P1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 = (A11 + A22) * (B11 + B22)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2700" y="2790825"/>
            <a:ext cx="5124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JetBrains Mono"/>
              </a:rPr>
              <a:t>P2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 = (A21 + A22) * B11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438525"/>
            <a:ext cx="5124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JetBrains Mono"/>
              </a:rPr>
              <a:t>P3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 = A11 * (B12 - B22)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2700" y="3438525"/>
            <a:ext cx="5124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JetBrains Mono"/>
              </a:rPr>
              <a:t>P4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 = A22 * (B21 - B11)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4086225"/>
            <a:ext cx="5124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JetBrains Mono"/>
              </a:rPr>
              <a:t>P5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 = (A11 + A12) * B22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2700" y="4086225"/>
            <a:ext cx="5124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JetBrains Mono"/>
              </a:rPr>
              <a:t>P6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 = (A21 - A11) * (B11 + B12)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4733925"/>
            <a:ext cx="106870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JetBrains Mono"/>
              </a:rPr>
              <a:t>P7</a:t>
            </a:r>
            <a:r>
              <a:rPr b="0" sz="1125" i="0" u="none">
                <a:solidFill>
                  <a:srgbClr val="0F172A"/>
                </a:solidFill>
                <a:latin typeface="JetBrains Mono"/>
              </a:rPr>
              <a:t> = (A12 - A22) * (B21 + B22)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90825"/>
            <a:ext cx="5372100" cy="971550"/>
          </a:xfrm>
          <a:prstGeom prst="roundRect">
            <a:avLst>
              <a:gd name="adj" fmla="val 7843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790825"/>
            <a:ext cx="5372100" cy="971550"/>
          </a:xfrm>
          <a:prstGeom prst="roundRect">
            <a:avLst>
              <a:gd name="adj" fmla="val 7843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90975"/>
            <a:ext cx="5372100" cy="971550"/>
          </a:xfrm>
          <a:prstGeom prst="roundRect">
            <a:avLst>
              <a:gd name="adj" fmla="val 7843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3990975"/>
            <a:ext cx="5372100" cy="971550"/>
          </a:xfrm>
          <a:prstGeom prst="roundRect">
            <a:avLst>
              <a:gd name="adj" fmla="val 7843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790825"/>
            <a:ext cx="38100" cy="971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0300" y="2790825"/>
            <a:ext cx="38100" cy="971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990975"/>
            <a:ext cx="38100" cy="971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0300" y="3990975"/>
            <a:ext cx="38100" cy="971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04. STRASSEN'S BREAKTHROUGH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Recombining Products into Matrix 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019425"/>
            <a:ext cx="6400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C11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314700"/>
            <a:ext cx="6096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JetBrains Mono"/>
              </a:rPr>
              <a:t>C11 = P1 + P4 - P5 + P7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3019425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C12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3314700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JetBrains Mono"/>
              </a:rPr>
              <a:t>C12 = P3 + P5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4219575"/>
            <a:ext cx="6400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C21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514850"/>
            <a:ext cx="6096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JetBrains Mono"/>
              </a:rPr>
              <a:t>C21 = P2 + P4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0" y="4219575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C22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0" y="4514850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JetBrains Mono"/>
              </a:rPr>
              <a:t>C22 = P1 + P3 - P2 + P6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75657"/>
            <a:ext cx="5295900" cy="2002035"/>
          </a:xfrm>
          <a:prstGeom prst="roundRect">
            <a:avLst>
              <a:gd name="adj" fmla="val 57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2828925"/>
            <a:ext cx="5295900" cy="2095500"/>
          </a:xfrm>
          <a:prstGeom prst="roundRect">
            <a:avLst>
              <a:gd name="adj" fmla="val 54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04. STRASSEN'S BREAKTHROUGH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Complexity Analysis of Strassen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89982"/>
            <a:ext cx="612576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Recurrence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90032"/>
            <a:ext cx="583406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JetBrains Mono"/>
              </a:rPr>
              <a:t>T(n) = 7 T(n/2) + O(n²)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075807"/>
            <a:ext cx="47625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7 recursive calls on subproblems of size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n/2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. The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O(n²)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term represents 18 matrix additions/subtractions.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143250"/>
            <a:ext cx="55911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Solving via Master Theorem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543300"/>
            <a:ext cx="55911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Comparing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f(n) = O(n²)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with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n^(log_b a) = n^(log₂7)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3867150"/>
            <a:ext cx="55911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6A34A"/>
                </a:solidFill>
                <a:latin typeface="JetBrains Mono"/>
              </a:rPr>
              <a:t>log₂ 7 ≈ 2.8073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825" y="4314825"/>
            <a:ext cx="55911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JetBrains Mono"/>
              </a:rPr>
              <a:t>T(n) = O(n^2.81)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85219"/>
            <a:ext cx="5334000" cy="1382910"/>
          </a:xfrm>
          <a:prstGeom prst="roundRect">
            <a:avLst>
              <a:gd name="adj" fmla="val 826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44279"/>
            <a:ext cx="5334000" cy="1664791"/>
          </a:xfrm>
          <a:prstGeom prst="roundRect">
            <a:avLst>
              <a:gd name="adj" fmla="val 686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185219"/>
            <a:ext cx="38100" cy="138291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48400" y="3044279"/>
            <a:ext cx="38100" cy="1664791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05. DYNAMIC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Matrix Chain Multiplication (MCM)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51919"/>
            <a:ext cx="625078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The MCM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13869"/>
            <a:ext cx="48577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Given a sequence of matrices </a:t>
            </a:r>
            <a:r>
              <a:rPr b="1" sz="1200" i="0" u="none">
                <a:solidFill>
                  <a:srgbClr val="334155"/>
                </a:solidFill>
                <a:latin typeface="Inter"/>
              </a:rPr>
              <a:t>A₁ × A₂ × ... × Aₙ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, find the </a:t>
            </a:r>
            <a:r>
              <a:rPr b="1" sz="1200" i="0" u="none">
                <a:solidFill>
                  <a:srgbClr val="334155"/>
                </a:solidFill>
                <a:latin typeface="Inter"/>
              </a:rPr>
              <a:t>optimal parenthesization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that minimizes total scalar multiplications.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3310979"/>
            <a:ext cx="56388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Why Parenthesization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3672929"/>
            <a:ext cx="563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For matrices </a:t>
            </a:r>
            <a:r>
              <a:rPr b="1" sz="1125" i="0" u="none">
                <a:solidFill>
                  <a:srgbClr val="334155"/>
                </a:solidFill>
                <a:latin typeface="Inter"/>
              </a:rPr>
              <a:t>A (10×30), B (30×5), C (5×60)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0" y="4017734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3700" y="4015829"/>
            <a:ext cx="5448300" cy="21327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(AB)C: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(10×30×5) + (10×5×60) = </a:t>
            </a:r>
            <a:r>
              <a:rPr b="1" sz="1050" i="0" u="none">
                <a:solidFill>
                  <a:srgbClr val="475569"/>
                </a:solidFill>
                <a:latin typeface="Inter"/>
              </a:rPr>
              <a:t>4,500 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0" y="4231005"/>
            <a:ext cx="762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3700" y="4229100"/>
            <a:ext cx="5448300" cy="21327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A(BC):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(30×5×60) + (10×30×60) = </a:t>
            </a:r>
            <a:r>
              <a:rPr b="1" sz="1050" i="0" u="none">
                <a:solidFill>
                  <a:srgbClr val="475569"/>
                </a:solidFill>
                <a:latin typeface="Inter"/>
              </a:rPr>
              <a:t>27,000 ops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45184"/>
            <a:ext cx="6614219" cy="1462980"/>
          </a:xfrm>
          <a:prstGeom prst="roundRect">
            <a:avLst>
              <a:gd name="adj" fmla="val 781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28619" y="2847975"/>
            <a:ext cx="4053780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28619" y="3971925"/>
            <a:ext cx="4053780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05. DYNAMIC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DP Recurrence &amp; Complexity for MCM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411884"/>
            <a:ext cx="79810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Space Grotesk"/>
              </a:rPr>
              <a:t>DP Recurrence Relation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783359"/>
            <a:ext cx="7601024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4D399"/>
                </a:solidFill>
                <a:latin typeface="JetBrains Mono"/>
              </a:rPr>
              <a:t>m[i, j] = min { m[i, k] + m[k+1, j] + p_{i-1} · p_k · p_j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179540"/>
            <a:ext cx="760102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Where split </a:t>
            </a:r>
            <a:r>
              <a:rPr b="0" sz="1050" i="1" u="none">
                <a:solidFill>
                  <a:srgbClr val="94A3B8"/>
                </a:solidFill>
                <a:latin typeface="Inter"/>
              </a:rPr>
              <a:t>k</a:t>
            </a:r>
            <a:r>
              <a:rPr b="0" sz="1050" i="0" u="none">
                <a:solidFill>
                  <a:srgbClr val="94A3B8"/>
                </a:solidFill>
                <a:latin typeface="Inter"/>
              </a:rPr>
              <a:t> ranges from </a:t>
            </a:r>
            <a:r>
              <a:rPr b="1" sz="1050" i="0" u="none">
                <a:solidFill>
                  <a:srgbClr val="94A3B8"/>
                </a:solidFill>
                <a:latin typeface="Inter"/>
              </a:rPr>
              <a:t>i ≤ k &lt; j</a:t>
            </a:r>
            <a:r>
              <a:rPr b="0" sz="1050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8644" y="3048000"/>
            <a:ext cx="446335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Space Grotesk"/>
              </a:rPr>
              <a:t>Time Complexity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8644" y="3286125"/>
            <a:ext cx="446335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JetBrains Mono"/>
              </a:rPr>
              <a:t>O(N³)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8644" y="4171950"/>
            <a:ext cx="446335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Space Grotesk"/>
              </a:rPr>
              <a:t>Space Complexity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8644" y="4410075"/>
            <a:ext cx="446335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A34A"/>
                </a:solidFill>
                <a:latin typeface="JetBrains Mono"/>
              </a:rPr>
              <a:t>O(N²)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590800"/>
          <a:ext cx="10972799" cy="25717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081039"/>
                <a:gridCol w="3095625"/>
                <a:gridCol w="2296269"/>
                <a:gridCol w="2499866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Space Grotesk"/>
                        </a:rPr>
                        <a:t>Algorithm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Space Grotesk"/>
                        </a:rPr>
                        <a:t>Approach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Space Grotesk"/>
                        </a:rPr>
                        <a:t>Time Complexity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Space Grotesk"/>
                        </a:rPr>
                        <a:t>Space Complexity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Standard Naive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Iterative (3 Loops)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DC2626"/>
                          </a:solidFill>
                          <a:latin typeface="JetBrains Mono"/>
                        </a:rPr>
                        <a:t>O(N³)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6A34A"/>
                          </a:solidFill>
                          <a:latin typeface="JetBrains Mono"/>
                        </a:rPr>
                        <a:t>O(1) aux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Basic Divide &amp; Conquer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Recursive Sub-matrices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DC2626"/>
                          </a:solidFill>
                          <a:latin typeface="JetBrains Mono"/>
                        </a:rPr>
                        <a:t>O(N³)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D97706"/>
                          </a:solidFill>
                          <a:latin typeface="JetBrains Mono"/>
                        </a:rPr>
                        <a:t>O(log N) stack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Strassen's Algorithm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7 Products Optimization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6A34A"/>
                          </a:solidFill>
                          <a:latin typeface="JetBrains Mono"/>
                        </a:rPr>
                        <a:t>O(N^2.81)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D97706"/>
                          </a:solidFill>
                          <a:latin typeface="JetBrains Mono"/>
                        </a:rPr>
                        <a:t>O(N²) aux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Inter"/>
                        </a:rPr>
                        <a:t>Matrix Chain (MCM)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Inter"/>
                        </a:rPr>
                        <a:t>Dynamic Programming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284C7"/>
                          </a:solidFill>
                          <a:latin typeface="JetBrains Mono"/>
                        </a:rPr>
                        <a:t>O(N³)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284C7"/>
                          </a:solidFill>
                          <a:latin typeface="JetBrains Mono"/>
                        </a:rPr>
                        <a:t>O(N²) table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06. ALGORITHM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Comparison of Approaches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57787" y="4302323"/>
            <a:ext cx="1876425" cy="619125"/>
          </a:xfrm>
          <a:prstGeom prst="roundRect">
            <a:avLst>
              <a:gd name="adj" fmla="val 46153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02968" y="1936402"/>
            <a:ext cx="2786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Space Grotesk"/>
              </a:rPr>
              <a:t>SUMMARY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5506" y="2288827"/>
            <a:ext cx="7900987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Space Grotesk"/>
              </a:rPr>
              <a:t>Key Algorithmic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098452"/>
            <a:ext cx="80962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Strassen proves that $O(n^3)$ is not the theoretical lower bound for matrix multiplication, while MCM illustrates how optimal order drastically cuts computational overhead.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4234" y="4492823"/>
            <a:ext cx="158353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8FAFC"/>
                </a:solidFill>
                <a:latin typeface="Inter"/>
              </a:rPr>
              <a:t>Q &amp; A Session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Inter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3462"/>
            <a:ext cx="104894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Inter"/>
              </a:rPr>
              <a:t>https://cdn.prod.website-files.com/68c9c3107effc2ea46e1a82c/695e3eaf2167899b4b13a63b_68b7835fbda78759aa4a427f_tensor-core-3.png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3487"/>
            <a:ext cx="24407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www.modular.com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